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12304A"/>
    <a:srgbClr val="000435"/>
    <a:srgbClr val="E8F5F2"/>
    <a:srgbClr val="EAF3FB"/>
    <a:srgbClr val="00897B"/>
    <a:srgbClr val="DFF2EE"/>
    <a:srgbClr val="404040"/>
    <a:srgbClr val="197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94660"/>
  </p:normalViewPr>
  <p:slideViewPr>
    <p:cSldViewPr snapToGrid="0">
      <p:cViewPr>
        <p:scale>
          <a:sx n="75" d="100"/>
          <a:sy n="75" d="100"/>
        </p:scale>
        <p:origin x="74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D664D-AE16-419C-833B-9C72519B3CEF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EDB1D-79EB-44BD-A4CA-78CA539D0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28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EDB1D-79EB-44BD-A4CA-78CA539D067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3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B283-A0D1-DBFF-F0E3-1BD2096AC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64851-479A-6EFE-1900-75295732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D28C9-303C-D77D-83C3-A99F593A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8F9EE-82C4-2093-3FBC-BC7EDC00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F5EB7-829B-CB49-EA84-C5DFBE91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340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1123-5DCD-434B-9CAA-7B4493B2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32F0F-8DAE-65A6-11BD-F2522952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4663A-92DA-908B-7B41-CF59E925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56442-80EA-A30A-3223-4E035FE5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449DB-318A-59BE-902F-1D615F4F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60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F48F-B86B-65FD-55CC-4C329F30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497E7-E31D-4A6D-DA1C-F010FC54E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F7A34-CF35-8886-10BD-229DE9A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48634-60D0-B72C-3496-32D7A086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FC97-F95D-2300-E039-65CC7685A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03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F583-E85D-CA5D-2411-B64426A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BAE15-B274-E774-56F3-08E4E73FE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7CFAE-D04D-89C7-A53A-9A83E639F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81E9-8F8D-B02A-1E9D-1D76A7ED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B6372-C658-A478-BA8B-C32D53ED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6CCE5-99AD-4A47-1CB9-69884ABD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82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6075-C6C0-79C6-0470-0A993B88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7D2E9-222D-4416-43B0-B36602E4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24896-1AE6-108A-89CB-EB76176E4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19E1C-A2EF-BDBC-8E78-F75EB9388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D5DFC-F6F4-0E3A-A1FC-05FA69530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59D477-1A79-3B09-632B-B67B6F82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4C1DCB-37AC-8918-B19A-AEBBAC60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6392B-67AD-20AE-4F54-7BB9FAD7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7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E12C-7EE6-BD49-CE3A-A53F07C4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AA413-DB86-0AEF-E214-D36D7111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6BE39-1C69-9105-EA83-21F8AFBD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82528-3B6A-24FB-03DB-DC0F5031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21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2E70B-11A0-08A3-6192-A283A4F5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C295D-196D-8C3F-8785-DB6D03EA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9C1DE-FB9C-AA18-6D26-334ABD7F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6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4E61-0D25-DE05-794D-4EE3A911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F7F38-7CFE-8A9D-FAE2-ED663D43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2DE94-1493-38BA-A8BF-5F4C3B23F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7D17F-4605-DBFA-867B-5BFAF613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2C4D1-02A7-B16C-0E23-DCD7B7F5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A2E08-7D4C-3652-59DE-89D7A4AD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09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962E-B2E4-BC86-0E79-618E8420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EB13B-15B3-50C9-05CB-9832C8CCE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4C9A5-72FD-137F-EC35-D4B4B93D5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09FAD-2303-2B00-E141-690EDBB3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091E5-A2D6-6222-41FD-C605DC47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75C0D-1BB3-EFF8-B362-C43AB50D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36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C634-BDE7-6516-D556-0C95FC92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78F4-AC05-6EFC-49B3-0ADECE8F2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3D777-50E8-57E4-2126-CEF4B9BA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47BB5-5A9F-6B22-D92D-FF185C6A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A1145-D61B-920C-3821-7B7E6FDA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42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4C0A6-E56D-9FC2-E779-1CD2C2066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94F00-320F-AF0C-26A2-D5CBEA0C4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B5604-9DEA-00B2-4E1C-D3C4C79C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1CDF8-75AC-7CC6-6006-A34A75C8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FA7C8-BE94-BC90-2293-72B97299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50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89727-65BA-3EAD-CD7E-C9AED0C3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34D82-78B2-3759-7502-B8398B98C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D66C-0C33-12D3-52D9-40A25E13C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9735F-C216-446E-A09D-3BEA34043A55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A2665-571C-AA90-7687-F42BE9FEF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19699-C66A-C0B2-5BFD-67E37288E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73383-EDD1-4C0B-862B-AF47F05AF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4A4EC4-C055-4E17-375C-ED21CB9BD240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AA495-E66F-5FC4-E3D2-1B962EDD5B83}"/>
              </a:ext>
            </a:extLst>
          </p:cNvPr>
          <p:cNvSpPr txBox="1"/>
          <p:nvPr/>
        </p:nvSpPr>
        <p:spPr>
          <a:xfrm>
            <a:off x="160420" y="657085"/>
            <a:ext cx="111404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000435"/>
                </a:solidFill>
              </a:rPr>
              <a:t>CampusNLP</a:t>
            </a:r>
            <a:r>
              <a:rPr lang="en-US" sz="3200" b="1" dirty="0">
                <a:solidFill>
                  <a:srgbClr val="000435"/>
                </a:solidFill>
              </a:rPr>
              <a:t>: An Intelligent Semantic Retrieval System for College Knowledge Discovery</a:t>
            </a:r>
            <a:endParaRPr lang="en-IN" sz="3200" b="1" dirty="0">
              <a:solidFill>
                <a:srgbClr val="00043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BAC9E-AC47-23A1-E2EC-4708A12BB971}"/>
              </a:ext>
            </a:extLst>
          </p:cNvPr>
          <p:cNvSpPr txBox="1"/>
          <p:nvPr/>
        </p:nvSpPr>
        <p:spPr>
          <a:xfrm>
            <a:off x="466344" y="2724884"/>
            <a:ext cx="8101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Leader: </a:t>
            </a:r>
          </a:p>
          <a:p>
            <a:r>
              <a:rPr lang="en-IN" dirty="0" err="1"/>
              <a:t>Mouryagna</a:t>
            </a:r>
            <a:r>
              <a:rPr lang="en-IN" dirty="0"/>
              <a:t> </a:t>
            </a:r>
            <a:r>
              <a:rPr lang="en-IN" dirty="0" err="1"/>
              <a:t>Baindla</a:t>
            </a:r>
            <a:r>
              <a:rPr lang="en-IN" dirty="0"/>
              <a:t> - BT24CSA015</a:t>
            </a:r>
            <a:endParaRPr lang="en-IN" b="1" dirty="0"/>
          </a:p>
          <a:p>
            <a:endParaRPr lang="en-IN" dirty="0"/>
          </a:p>
          <a:p>
            <a:r>
              <a:rPr lang="en-IN" b="1" dirty="0"/>
              <a:t>Team Members: </a:t>
            </a:r>
          </a:p>
          <a:p>
            <a:r>
              <a:rPr lang="en-IN" dirty="0"/>
              <a:t>Shashank Reddy  - BT24CSA014</a:t>
            </a:r>
          </a:p>
          <a:p>
            <a:r>
              <a:rPr lang="en-IN" dirty="0"/>
              <a:t>Rishikesh Reddy  - BT24CSA058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79B341-B50D-F40B-5204-E25FED2C9F8D}"/>
              </a:ext>
            </a:extLst>
          </p:cNvPr>
          <p:cNvSpPr txBox="1"/>
          <p:nvPr/>
        </p:nvSpPr>
        <p:spPr>
          <a:xfrm>
            <a:off x="246888" y="5011403"/>
            <a:ext cx="475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Department: CSA</a:t>
            </a:r>
            <a:br>
              <a:rPr lang="en-IN" dirty="0"/>
            </a:br>
            <a:r>
              <a:rPr lang="en-IN" dirty="0"/>
              <a:t>IIIT Nagpur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542A80-662E-E6E9-CDB8-E9A779FC120D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IIITN Logo">
            <a:extLst>
              <a:ext uri="{FF2B5EF4-FFF2-40B4-BE49-F238E27FC236}">
                <a16:creationId xmlns:a16="http://schemas.microsoft.com/office/drawing/2014/main" id="{E8800E59-AC3E-A3CD-9C05-8CDC032B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6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559F5-BF52-1D12-6C61-560823C4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DFE811-25D5-2FCA-94E4-52DD2F8A48C6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4B396A-58DC-9920-DB4D-878B178090FB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EAA63-123F-FAE9-611C-3F10B86C6EFF}"/>
              </a:ext>
            </a:extLst>
          </p:cNvPr>
          <p:cNvSpPr txBox="1"/>
          <p:nvPr/>
        </p:nvSpPr>
        <p:spPr>
          <a:xfrm>
            <a:off x="177105" y="320040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Problem Statement &amp; Motivation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F65FE5-45C4-17BA-9114-7C16934EDF04}"/>
              </a:ext>
            </a:extLst>
          </p:cNvPr>
          <p:cNvSpPr/>
          <p:nvPr/>
        </p:nvSpPr>
        <p:spPr>
          <a:xfrm>
            <a:off x="177104" y="1152855"/>
            <a:ext cx="5464743" cy="3317857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100" b="1" dirty="0">
                <a:solidFill>
                  <a:srgbClr val="000435"/>
                </a:solidFill>
              </a:rPr>
              <a:t>The Problem</a:t>
            </a:r>
          </a:p>
          <a:p>
            <a:endParaRPr lang="en-IN" sz="2100" dirty="0">
              <a:solidFill>
                <a:srgbClr val="0004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IIIT Nagpur's information is spread across web pages, PDFs, DOCX files, spreadsheets, and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Much of the website content is loaded dynamically, so normal web crawlers can miss important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Finding the right information is difficult because important details and their context can get lost.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Simple keyword search may miss the meaning of a query, while vector search may miss exact terms like course codes, faculty names, or department names.</a:t>
            </a:r>
            <a:endParaRPr lang="en-IN" sz="1600" dirty="0">
              <a:solidFill>
                <a:srgbClr val="000435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21872C-F0DB-27F6-FCAE-2A1FB221043A}"/>
              </a:ext>
            </a:extLst>
          </p:cNvPr>
          <p:cNvSpPr/>
          <p:nvPr/>
        </p:nvSpPr>
        <p:spPr>
          <a:xfrm>
            <a:off x="6550153" y="1152855"/>
            <a:ext cx="5464743" cy="3317857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Why Intelligent Retrieval?</a:t>
            </a:r>
          </a:p>
          <a:p>
            <a:pPr algn="ctr"/>
            <a:endParaRPr lang="en-IN" sz="2100" b="1" dirty="0">
              <a:solidFill>
                <a:srgbClr val="0004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Bring information from different sources into one searchable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Make it easier for students to find the information they actually need.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Understand the meaning of the query while still matching important exact terms.</a:t>
            </a:r>
            <a:endParaRPr lang="en-IN" sz="1600" dirty="0">
              <a:solidFill>
                <a:srgbClr val="000435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187D4C7-B412-24B8-56C1-0F255B2087B5}"/>
              </a:ext>
            </a:extLst>
          </p:cNvPr>
          <p:cNvSpPr/>
          <p:nvPr/>
        </p:nvSpPr>
        <p:spPr>
          <a:xfrm>
            <a:off x="271431" y="4820622"/>
            <a:ext cx="11649137" cy="1817921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897B"/>
                </a:solidFill>
              </a:rPr>
              <a:t>Objective</a:t>
            </a:r>
          </a:p>
          <a:p>
            <a:endParaRPr lang="en-IN" b="1" dirty="0">
              <a:solidFill>
                <a:srgbClr val="00897B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Build an intelligent retrieval system that lets students easily search IIIT Nagpur's scattered information and get relevant, accurate results — combining semantic understanding with exact keyword matching.</a:t>
            </a:r>
            <a:endParaRPr lang="en-IN" b="1" dirty="0">
              <a:solidFill>
                <a:srgbClr val="333333"/>
              </a:solidFill>
            </a:endParaRP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47EC6067-FF58-5A8F-21CD-94C9F88F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3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D840-97C8-557C-88E5-2EA6EB6B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6F2647-3D9E-3A3F-17F3-69A54270C20C}"/>
              </a:ext>
            </a:extLst>
          </p:cNvPr>
          <p:cNvSpPr/>
          <p:nvPr/>
        </p:nvSpPr>
        <p:spPr>
          <a:xfrm>
            <a:off x="273303" y="1061459"/>
            <a:ext cx="5368544" cy="3681759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Existing Research</a:t>
            </a:r>
          </a:p>
          <a:p>
            <a:endParaRPr lang="en-IN" sz="2400" b="1" dirty="0">
              <a:solidFill>
                <a:srgbClr val="000435"/>
              </a:solidFill>
            </a:endParaRPr>
          </a:p>
          <a:p>
            <a:r>
              <a:rPr lang="en-IN" b="1" dirty="0">
                <a:solidFill>
                  <a:srgbClr val="000435"/>
                </a:solidFill>
              </a:rPr>
              <a:t>Commonly used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Static web pages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PDF documents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Plain-text web content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Documents in a single format </a:t>
            </a:r>
          </a:p>
          <a:p>
            <a:pPr lvl="0"/>
            <a:r>
              <a:rPr lang="en-IN" b="1" dirty="0">
                <a:solidFill>
                  <a:srgbClr val="000435"/>
                </a:solidFill>
              </a:rPr>
              <a:t>Existing Approaches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Keyword search using BM25 / TF-IDF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Vector search using embeddings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Basic text chunking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Retrieving results based only on similarity scores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E3122-7593-F43F-6E1C-0786D832B2C8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53A59-8395-BC3E-DF42-0A433DD0A864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53DD97-21B9-EBC1-2CCB-248A885859E8}"/>
              </a:ext>
            </a:extLst>
          </p:cNvPr>
          <p:cNvSpPr txBox="1"/>
          <p:nvPr/>
        </p:nvSpPr>
        <p:spPr>
          <a:xfrm>
            <a:off x="177105" y="269482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Existing Solutions &amp; Research Gap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12964A-04B4-6D43-E4D8-F9AC1B0930B1}"/>
              </a:ext>
            </a:extLst>
          </p:cNvPr>
          <p:cNvSpPr/>
          <p:nvPr/>
        </p:nvSpPr>
        <p:spPr>
          <a:xfrm>
            <a:off x="6550155" y="1061459"/>
            <a:ext cx="5368543" cy="3681759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12304A"/>
                </a:solidFill>
              </a:rPr>
              <a:t>Research Gap</a:t>
            </a:r>
          </a:p>
          <a:p>
            <a:endParaRPr lang="en-IN" sz="2100" b="1" dirty="0">
              <a:solidFill>
                <a:srgbClr val="12304A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Most existing systems work with </a:t>
            </a:r>
            <a:r>
              <a:rPr lang="en-IN" sz="1600" b="1" dirty="0">
                <a:solidFill>
                  <a:schemeClr val="tx1"/>
                </a:solidFill>
              </a:rPr>
              <a:t>clean, static text</a:t>
            </a:r>
            <a:r>
              <a:rPr lang="en-IN" sz="1600" dirty="0">
                <a:solidFill>
                  <a:schemeClr val="tx1"/>
                </a:solidFill>
              </a:rPr>
              <a:t>, rather than information spread across dynamic websites and different document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They often don't keep enough </a:t>
            </a:r>
            <a:r>
              <a:rPr lang="en-IN" sz="1600" b="1" dirty="0">
                <a:solidFill>
                  <a:schemeClr val="tx1"/>
                </a:solidFill>
              </a:rPr>
              <a:t>metadata and context</a:t>
            </a:r>
            <a:r>
              <a:rPr lang="en-IN" sz="1600" dirty="0">
                <a:solidFill>
                  <a:schemeClr val="tx1"/>
                </a:solidFill>
              </a:rPr>
              <a:t> while processing the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There is limited work on handling </a:t>
            </a:r>
            <a:r>
              <a:rPr lang="en-IN" sz="1600" b="1" dirty="0">
                <a:solidFill>
                  <a:schemeClr val="tx1"/>
                </a:solidFill>
              </a:rPr>
              <a:t>IIIT Nagpur's dynamic React website + documents + images</a:t>
            </a:r>
            <a:r>
              <a:rPr lang="en-IN" sz="1600" dirty="0">
                <a:solidFill>
                  <a:schemeClr val="tx1"/>
                </a:solidFill>
              </a:rPr>
              <a:t> together.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Keyword search can miss </a:t>
            </a:r>
            <a:r>
              <a:rPr lang="en-IN" sz="1600" b="1" dirty="0">
                <a:solidFill>
                  <a:schemeClr val="tx1"/>
                </a:solidFill>
              </a:rPr>
              <a:t>meaning</a:t>
            </a:r>
            <a:r>
              <a:rPr lang="en-IN" sz="1600" dirty="0">
                <a:solidFill>
                  <a:schemeClr val="tx1"/>
                </a:solidFill>
              </a:rPr>
              <a:t>, while vector search can miss </a:t>
            </a:r>
            <a:r>
              <a:rPr lang="en-IN" sz="1600" b="1" dirty="0">
                <a:solidFill>
                  <a:schemeClr val="tx1"/>
                </a:solidFill>
              </a:rPr>
              <a:t>exact terms</a:t>
            </a:r>
            <a:r>
              <a:rPr lang="en-IN" sz="1600" dirty="0">
                <a:solidFill>
                  <a:schemeClr val="tx1"/>
                </a:solidFill>
              </a:rPr>
              <a:t> such as course codes and faculty names.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86FFD6-D8C2-F60F-E8BB-FE580059E0FF}"/>
              </a:ext>
            </a:extLst>
          </p:cNvPr>
          <p:cNvSpPr/>
          <p:nvPr/>
        </p:nvSpPr>
        <p:spPr>
          <a:xfrm>
            <a:off x="177105" y="4950420"/>
            <a:ext cx="11837792" cy="1638098"/>
          </a:xfrm>
          <a:prstGeom prst="roundRect">
            <a:avLst/>
          </a:prstGeom>
          <a:solidFill>
            <a:srgbClr val="DFF2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rgbClr val="00897B"/>
                </a:solidFill>
              </a:rPr>
              <a:t>Our Direction</a:t>
            </a:r>
          </a:p>
          <a:p>
            <a:endParaRPr lang="en-IN" sz="2000" b="1" dirty="0">
              <a:solidFill>
                <a:srgbClr val="00897B"/>
              </a:solidFill>
            </a:endParaRPr>
          </a:p>
          <a:p>
            <a:r>
              <a:rPr lang="en-IN" sz="2000" dirty="0">
                <a:solidFill>
                  <a:schemeClr val="tx1"/>
                </a:solidFill>
              </a:rPr>
              <a:t>Build an </a:t>
            </a:r>
            <a:r>
              <a:rPr lang="en-IN" sz="2000" b="1" dirty="0">
                <a:solidFill>
                  <a:schemeClr val="tx1"/>
                </a:solidFill>
              </a:rPr>
              <a:t>IIIT Nagpur-specific intelligent retrieval system</a:t>
            </a:r>
            <a:r>
              <a:rPr lang="en-IN" sz="2000" dirty="0">
                <a:solidFill>
                  <a:schemeClr val="tx1"/>
                </a:solidFill>
              </a:rPr>
              <a:t> that combines </a:t>
            </a:r>
            <a:r>
              <a:rPr lang="en-IN" sz="2000" b="1" dirty="0">
                <a:solidFill>
                  <a:schemeClr val="tx1"/>
                </a:solidFill>
              </a:rPr>
              <a:t>keyword search + semantic search + cross-encoder re-ranking</a:t>
            </a:r>
            <a:r>
              <a:rPr lang="en-IN" sz="2000" dirty="0">
                <a:solidFill>
                  <a:schemeClr val="tx1"/>
                </a:solidFill>
              </a:rPr>
              <a:t> to provide more accurate and relevant results.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28B93214-F8BA-43D5-1F3C-DEA060942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0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5C1F0-8EFC-1BAA-3A94-21C353274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D62C34-6E7E-E811-74C9-50271086DBDA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127518-80F3-9959-8446-E18C58D88CDB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4C52C-A5D4-C860-CB1C-6D6E8E0AE326}"/>
              </a:ext>
            </a:extLst>
          </p:cNvPr>
          <p:cNvSpPr txBox="1"/>
          <p:nvPr/>
        </p:nvSpPr>
        <p:spPr>
          <a:xfrm>
            <a:off x="270870" y="248653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Research Papers Reviewed</a:t>
            </a:r>
          </a:p>
        </p:txBody>
      </p:sp>
      <p:pic>
        <p:nvPicPr>
          <p:cNvPr id="9" name="Picture 8" descr="IIITN Logo">
            <a:extLst>
              <a:ext uri="{FF2B5EF4-FFF2-40B4-BE49-F238E27FC236}">
                <a16:creationId xmlns:a16="http://schemas.microsoft.com/office/drawing/2014/main" id="{58808E05-C0EB-E046-2AB4-BE1C5BCC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8D1B83-06A1-0B3A-D328-CBE2BC5F06B9}"/>
              </a:ext>
            </a:extLst>
          </p:cNvPr>
          <p:cNvSpPr txBox="1"/>
          <p:nvPr/>
        </p:nvSpPr>
        <p:spPr>
          <a:xfrm>
            <a:off x="548640" y="1259258"/>
            <a:ext cx="114829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LearnForge</a:t>
            </a:r>
            <a:r>
              <a:rPr lang="en-US" b="1" dirty="0"/>
              <a:t>: An AI-Powered Intelligent Learning Assistant with RAG-Based Document Intelligence</a:t>
            </a:r>
            <a:r>
              <a:rPr lang="en-IN" dirty="0"/>
              <a:t>— IEEE Xplore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Ontology-Guided Semantic Retrieval in Virtual University Information Systems: An Empirical Benchmark Study</a:t>
            </a:r>
            <a:r>
              <a:rPr lang="en-IN" dirty="0"/>
              <a:t>— SCIRP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From Retrieval to Comprehension (R2C): A Collaborative Architecture for Campus Policy QA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 Retrieval-Augmented Multilingual Chatbot for Intelligent College Information Services</a:t>
            </a:r>
            <a:r>
              <a:rPr lang="en-IN" dirty="0"/>
              <a:t>— IRO Journals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From BM25 to Corrective RAG: Benchmarking Retrieval Strategies for Text-and-Table Documents</a:t>
            </a:r>
            <a:r>
              <a:rPr lang="en-IN" dirty="0"/>
              <a:t> — </a:t>
            </a:r>
            <a:r>
              <a:rPr lang="en-IN" dirty="0" err="1"/>
              <a:t>alphaXiv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Advisely</a:t>
            </a:r>
            <a:r>
              <a:rPr lang="en-IN" b="1" dirty="0"/>
              <a:t>: AI-Powered Academic Advising Using Large Language Models (LLMs)</a:t>
            </a:r>
            <a:r>
              <a:rPr lang="en-IN" dirty="0"/>
              <a:t> — ResearchGate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 Comparative Study of Information Retrieval Models: BM25 versus Hybrid Retrieval on the Cranfield Collection</a:t>
            </a:r>
            <a:r>
              <a:rPr lang="en-IN" dirty="0"/>
              <a:t> — ResearchGate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Study on a Multimodal Agentic RAG Framework for Integrating Multi-Source Heterogeneous Information in Higher Education Institutions</a:t>
            </a:r>
            <a:r>
              <a:rPr lang="en-IN" dirty="0"/>
              <a:t>— MDPI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Benchmarking Retrieval Strategies for Curriculum-Aligned Retrieval-Augmented Generation Using NCERT-RAG-Eval STEM Textbooks</a:t>
            </a:r>
            <a:r>
              <a:rPr lang="en-IN" dirty="0"/>
              <a:t> — Nature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Enhancing Educational Semantic Retrieval Through Dual Objective Fine-Tuning of Open Source Embedding Models</a:t>
            </a:r>
            <a:r>
              <a:rPr lang="en-IN" dirty="0"/>
              <a:t> — Springer</a:t>
            </a:r>
          </a:p>
        </p:txBody>
      </p:sp>
    </p:spTree>
    <p:extLst>
      <p:ext uri="{BB962C8B-B14F-4D97-AF65-F5344CB8AC3E}">
        <p14:creationId xmlns:p14="http://schemas.microsoft.com/office/powerpoint/2010/main" val="332110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1DC0-C00F-F34E-3947-ED2809C5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028917-9E15-3D99-7576-C4D6D782D4A0}"/>
              </a:ext>
            </a:extLst>
          </p:cNvPr>
          <p:cNvSpPr/>
          <p:nvPr/>
        </p:nvSpPr>
        <p:spPr>
          <a:xfrm>
            <a:off x="6180255" y="851082"/>
            <a:ext cx="5368545" cy="3684342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D6239-0D57-1C37-AFC6-92477D56CC4C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46B6AD-FF3D-A93C-0053-CEF0EA051363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43AD6-7935-9F31-B7EC-ABBDF83C3AD6}"/>
              </a:ext>
            </a:extLst>
          </p:cNvPr>
          <p:cNvSpPr txBox="1"/>
          <p:nvPr/>
        </p:nvSpPr>
        <p:spPr>
          <a:xfrm>
            <a:off x="177105" y="266307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0435"/>
                </a:solidFill>
              </a:rPr>
              <a:t>Dataset &amp; Data Preparation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31D20B-4783-0E1B-9A14-993AC306DCCC}"/>
              </a:ext>
            </a:extLst>
          </p:cNvPr>
          <p:cNvSpPr/>
          <p:nvPr/>
        </p:nvSpPr>
        <p:spPr>
          <a:xfrm>
            <a:off x="291519" y="905702"/>
            <a:ext cx="5368545" cy="3629722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0435"/>
                </a:solidFill>
              </a:rPr>
              <a:t>Dataset</a:t>
            </a:r>
          </a:p>
          <a:p>
            <a:endParaRPr lang="en-IN" sz="2400" b="1" dirty="0">
              <a:solidFill>
                <a:srgbClr val="000435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Collected </a:t>
            </a:r>
            <a:r>
              <a:rPr lang="en-IN" sz="1600" b="1" dirty="0">
                <a:solidFill>
                  <a:schemeClr val="tx1"/>
                </a:solidFill>
              </a:rPr>
              <a:t>72 important IIIT Nagpur URLs</a:t>
            </a:r>
            <a:r>
              <a:rPr lang="en-IN" sz="1600" dirty="0">
                <a:solidFill>
                  <a:schemeClr val="tx1"/>
                </a:solidFill>
              </a:rPr>
              <a:t> covering academics, placements, governance, and facilities.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Used </a:t>
            </a:r>
            <a:r>
              <a:rPr lang="en-IN" sz="1600" b="1" dirty="0">
                <a:solidFill>
                  <a:schemeClr val="tx1"/>
                </a:solidFill>
              </a:rPr>
              <a:t>Playwright</a:t>
            </a:r>
            <a:r>
              <a:rPr lang="en-IN" sz="1600" dirty="0">
                <a:solidFill>
                  <a:schemeClr val="tx1"/>
                </a:solidFill>
              </a:rPr>
              <a:t> to extract content from the dynamic React/Vite website.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Collected different types of data: </a:t>
            </a:r>
            <a:r>
              <a:rPr lang="en-IN" sz="1600" b="1" dirty="0">
                <a:solidFill>
                  <a:schemeClr val="tx1"/>
                </a:solidFill>
              </a:rPr>
              <a:t>PDFs, DOCX files, CSV/XLSX sheets, and images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Used </a:t>
            </a:r>
            <a:r>
              <a:rPr lang="en-IN" sz="1600" b="1" dirty="0">
                <a:solidFill>
                  <a:schemeClr val="tx1"/>
                </a:solidFill>
              </a:rPr>
              <a:t>Tesseract OCR</a:t>
            </a:r>
            <a:r>
              <a:rPr lang="en-IN" sz="1600" dirty="0">
                <a:solidFill>
                  <a:schemeClr val="tx1"/>
                </a:solidFill>
              </a:rPr>
              <a:t> to extract text from placement images and recruiter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Used </a:t>
            </a:r>
            <a:r>
              <a:rPr lang="en-IN" sz="1600" b="1" dirty="0">
                <a:solidFill>
                  <a:schemeClr val="tx1"/>
                </a:solidFill>
              </a:rPr>
              <a:t>MD5 hashing</a:t>
            </a:r>
            <a:r>
              <a:rPr lang="en-IN" sz="1600" dirty="0">
                <a:solidFill>
                  <a:schemeClr val="tx1"/>
                </a:solidFill>
              </a:rPr>
              <a:t> to remove duplicate files.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In total, we collected around </a:t>
            </a:r>
            <a:r>
              <a:rPr lang="en-IN" sz="1600" b="1" dirty="0">
                <a:solidFill>
                  <a:schemeClr val="tx1"/>
                </a:solidFill>
              </a:rPr>
              <a:t>1.04 GB of institutional data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48201-9851-A3BA-25C2-8D3A32DC6DD8}"/>
              </a:ext>
            </a:extLst>
          </p:cNvPr>
          <p:cNvSpPr txBox="1"/>
          <p:nvPr/>
        </p:nvSpPr>
        <p:spPr>
          <a:xfrm>
            <a:off x="6569095" y="1020249"/>
            <a:ext cx="3270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12304A"/>
                </a:solidFill>
              </a:rPr>
              <a:t>Data Preparation</a:t>
            </a: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B763BDAB-2CA3-00E5-6E7B-399C0D01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E99BEC-827C-4F18-3F2A-474F8D585E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68" r="-14268"/>
          <a:stretch>
            <a:fillRect/>
          </a:stretch>
        </p:blipFill>
        <p:spPr>
          <a:xfrm>
            <a:off x="7369328" y="1594164"/>
            <a:ext cx="2990397" cy="276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CC78F3-DF46-E357-1983-B1C7D95011DF}"/>
              </a:ext>
            </a:extLst>
          </p:cNvPr>
          <p:cNvSpPr txBox="1"/>
          <p:nvPr/>
        </p:nvSpPr>
        <p:spPr>
          <a:xfrm>
            <a:off x="877824" y="4845498"/>
            <a:ext cx="979322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Why Metadata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Each chunk keeps information about where it came from, such as the </a:t>
            </a:r>
            <a:r>
              <a:rPr lang="en-IN" sz="1600" b="1" dirty="0"/>
              <a:t>document title, category, and source URL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This helps the system return not just relevant text, but also the </a:t>
            </a:r>
            <a:r>
              <a:rPr lang="en-IN" sz="1600" b="1" dirty="0"/>
              <a:t>right context and source</a:t>
            </a:r>
            <a:r>
              <a:rPr lang="en-IN" sz="1600" dirty="0"/>
              <a:t> behind that information.</a:t>
            </a:r>
          </a:p>
          <a:p>
            <a:r>
              <a:rPr lang="en-IN" sz="1600" b="1" dirty="0"/>
              <a:t>72 URLs → ~1.04 GB of raw data → extracted text → context-aware chunks → metadata-rich dataset ready for retrieval</a:t>
            </a:r>
          </a:p>
        </p:txBody>
      </p:sp>
    </p:spTree>
    <p:extLst>
      <p:ext uri="{BB962C8B-B14F-4D97-AF65-F5344CB8AC3E}">
        <p14:creationId xmlns:p14="http://schemas.microsoft.com/office/powerpoint/2010/main" val="169945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8038-8D22-6B39-FC78-AEB3962E0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D7B192-AECE-1E70-1766-FB5879837925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FD7621-7E6B-0C7E-25AC-3ED8F0A5089F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7693D-423C-7F10-ECF3-CD2D30055639}"/>
              </a:ext>
            </a:extLst>
          </p:cNvPr>
          <p:cNvSpPr txBox="1"/>
          <p:nvPr/>
        </p:nvSpPr>
        <p:spPr>
          <a:xfrm>
            <a:off x="177105" y="266307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0435"/>
                </a:solidFill>
              </a:rPr>
              <a:t>Overall Workflow</a:t>
            </a: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91EDFF3D-6AAA-7553-5565-071FAFF5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8E0C1-269C-CC47-7AE7-834D785719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647" r="-31647"/>
          <a:stretch>
            <a:fillRect/>
          </a:stretch>
        </p:blipFill>
        <p:spPr>
          <a:xfrm>
            <a:off x="2761488" y="1129284"/>
            <a:ext cx="5620512" cy="51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7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9E90-6CAE-3D48-AECE-48AD2F8B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98665C-AAE7-7441-7E22-87675CD49117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4614FC-5C36-D399-FF07-FE2C26727746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E2DB2-3ADE-555D-3623-39B0F8CE3F4E}"/>
              </a:ext>
            </a:extLst>
          </p:cNvPr>
          <p:cNvSpPr txBox="1"/>
          <p:nvPr/>
        </p:nvSpPr>
        <p:spPr>
          <a:xfrm>
            <a:off x="177105" y="269482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Model Specifications &amp;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90AB2C-809A-3AE7-A304-869E6B3BD29D}"/>
              </a:ext>
            </a:extLst>
          </p:cNvPr>
          <p:cNvSpPr/>
          <p:nvPr/>
        </p:nvSpPr>
        <p:spPr>
          <a:xfrm>
            <a:off x="4210303" y="1015740"/>
            <a:ext cx="3596640" cy="53241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Sparse Retrieval -Keyword Search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r>
              <a:rPr lang="en-IN" sz="1600" b="1" dirty="0">
                <a:solidFill>
                  <a:schemeClr val="tx1"/>
                </a:solidFill>
              </a:rPr>
              <a:t>Algorithm:</a:t>
            </a:r>
            <a:r>
              <a:rPr lang="en-IN" sz="1600" dirty="0">
                <a:solidFill>
                  <a:schemeClr val="tx1"/>
                </a:solidFill>
              </a:rPr>
              <a:t> BM25Okapi</a:t>
            </a:r>
          </a:p>
          <a:p>
            <a:endParaRPr lang="en-IN" sz="1400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Uses </a:t>
            </a:r>
            <a:r>
              <a:rPr lang="en-IN" sz="1400" b="1" dirty="0">
                <a:solidFill>
                  <a:schemeClr val="tx1"/>
                </a:solidFill>
              </a:rPr>
              <a:t>term frequency, inverse document frequency, and document length</a:t>
            </a:r>
            <a:r>
              <a:rPr lang="en-IN" sz="1400" dirty="0">
                <a:solidFill>
                  <a:schemeClr val="tx1"/>
                </a:solidFill>
              </a:rPr>
              <a:t> to score passages.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Good at finding </a:t>
            </a:r>
            <a:r>
              <a:rPr lang="en-IN" sz="1400" b="1" dirty="0">
                <a:solidFill>
                  <a:schemeClr val="tx1"/>
                </a:solidFill>
              </a:rPr>
              <a:t>exact words and terms</a:t>
            </a:r>
            <a:r>
              <a:rPr lang="en-IN" sz="14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Particularly useful for </a:t>
            </a:r>
            <a:r>
              <a:rPr lang="en-IN" sz="1400" b="1" dirty="0">
                <a:solidFill>
                  <a:schemeClr val="tx1"/>
                </a:solidFill>
              </a:rPr>
              <a:t>course codes, faculty names, room numbers, etc.</a:t>
            </a:r>
          </a:p>
          <a:p>
            <a:pPr lvl="0"/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</a:rPr>
              <a:t>Example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Query:</a:t>
            </a:r>
            <a:r>
              <a:rPr lang="en-IN" sz="1400" dirty="0">
                <a:solidFill>
                  <a:schemeClr val="tx1"/>
                </a:solidFill>
              </a:rPr>
              <a:t> "CSL-422"</a:t>
            </a:r>
          </a:p>
          <a:p>
            <a:r>
              <a:rPr lang="en-IN" sz="1400" dirty="0">
                <a:solidFill>
                  <a:schemeClr val="tx1"/>
                </a:solidFill>
              </a:rPr>
              <a:t>→ BM25 can directly match passages containing </a:t>
            </a:r>
            <a:r>
              <a:rPr lang="en-IN" sz="1400" b="1" dirty="0">
                <a:solidFill>
                  <a:schemeClr val="tx1"/>
                </a:solidFill>
              </a:rPr>
              <a:t>CSL-422</a:t>
            </a:r>
            <a:r>
              <a:rPr lang="en-IN" sz="1400" dirty="0">
                <a:solidFill>
                  <a:schemeClr val="tx1"/>
                </a:solidFill>
              </a:rPr>
              <a:t>.</a:t>
            </a:r>
          </a:p>
          <a:p>
            <a:pPr lvl="0"/>
            <a:endParaRPr lang="en-IN" sz="1400" dirty="0">
              <a:solidFill>
                <a:schemeClr val="tx1"/>
              </a:solidFill>
            </a:endParaRPr>
          </a:p>
          <a:p>
            <a:r>
              <a:rPr lang="en-IN" sz="1500" dirty="0">
                <a:solidFill>
                  <a:srgbClr val="00897B"/>
                </a:solidFill>
              </a:rPr>
              <a:t>	</a:t>
            </a:r>
          </a:p>
        </p:txBody>
      </p:sp>
      <p:pic>
        <p:nvPicPr>
          <p:cNvPr id="5" name="Picture 4" descr="IIITN Logo">
            <a:extLst>
              <a:ext uri="{FF2B5EF4-FFF2-40B4-BE49-F238E27FC236}">
                <a16:creationId xmlns:a16="http://schemas.microsoft.com/office/drawing/2014/main" id="{E1B76B65-D6AA-C925-0B19-3B28FF8E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F4C4A4-8421-14C8-8140-DCD38251C9E9}"/>
              </a:ext>
            </a:extLst>
          </p:cNvPr>
          <p:cNvSpPr/>
          <p:nvPr/>
        </p:nvSpPr>
        <p:spPr>
          <a:xfrm>
            <a:off x="377954" y="1015739"/>
            <a:ext cx="3596640" cy="5324101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Dense Retrieval - Semantic Search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r>
              <a:rPr lang="en-IN" sz="1600" b="1" dirty="0">
                <a:solidFill>
                  <a:schemeClr val="tx1"/>
                </a:solidFill>
              </a:rPr>
              <a:t>Model:</a:t>
            </a:r>
            <a:r>
              <a:rPr lang="en-IN" sz="1600" dirty="0">
                <a:solidFill>
                  <a:schemeClr val="tx1"/>
                </a:solidFill>
              </a:rPr>
              <a:t> sentence-transformers/all-MiniLM-L6-V2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Architecture:</a:t>
            </a:r>
            <a:r>
              <a:rPr lang="en-IN" sz="1400" dirty="0">
                <a:solidFill>
                  <a:schemeClr val="tx1"/>
                </a:solidFill>
              </a:rPr>
              <a:t> 6-layer Transformer encoder with ~22.7M parameters.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Embedding Size:</a:t>
            </a:r>
            <a:r>
              <a:rPr lang="en-IN" sz="1400" dirty="0">
                <a:solidFill>
                  <a:schemeClr val="tx1"/>
                </a:solidFill>
              </a:rPr>
              <a:t> 384 dimensions.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Context:</a:t>
            </a:r>
            <a:r>
              <a:rPr lang="en-IN" sz="1400" dirty="0">
                <a:solidFill>
                  <a:schemeClr val="tx1"/>
                </a:solidFill>
              </a:rPr>
              <a:t> Up to 256 tokens.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Purpose:</a:t>
            </a:r>
            <a:r>
              <a:rPr lang="en-IN" sz="1400" dirty="0">
                <a:solidFill>
                  <a:schemeClr val="tx1"/>
                </a:solidFill>
              </a:rPr>
              <a:t> Converts queries and documents into vectors so we can find passages with similar meaning.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</a:rPr>
              <a:t>Retrieval:</a:t>
            </a:r>
            <a:r>
              <a:rPr lang="en-IN" sz="1400" dirty="0">
                <a:solidFill>
                  <a:schemeClr val="tx1"/>
                </a:solidFill>
              </a:rPr>
              <a:t> FAISS is used for fast similarity search.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rgbClr val="00897B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</a:rPr>
              <a:t>Example</a:t>
            </a:r>
          </a:p>
          <a:p>
            <a:r>
              <a:rPr lang="en-IN" sz="1400" b="1" dirty="0">
                <a:solidFill>
                  <a:schemeClr val="tx1"/>
                </a:solidFill>
              </a:rPr>
              <a:t>Query: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IN" sz="1400" i="1" dirty="0">
                <a:solidFill>
                  <a:schemeClr val="tx1"/>
                </a:solidFill>
              </a:rPr>
              <a:t>“Who teaches Machine Learning?”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→ Can retrieve a passage containing </a:t>
            </a:r>
            <a:r>
              <a:rPr lang="en-IN" sz="1400" i="1" dirty="0">
                <a:solidFill>
                  <a:schemeClr val="tx1"/>
                </a:solidFill>
              </a:rPr>
              <a:t>“Faculty handling CSL-422 Machine Learning”</a:t>
            </a:r>
            <a:r>
              <a:rPr lang="en-IN" sz="1400" dirty="0">
                <a:solidFill>
                  <a:schemeClr val="tx1"/>
                </a:solidFill>
              </a:rPr>
              <a:t> even if the exact words don't match.</a:t>
            </a:r>
          </a:p>
          <a:p>
            <a:endParaRPr lang="en-IN" sz="2100" dirty="0">
              <a:solidFill>
                <a:srgbClr val="12304A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22ED03-4293-7FD2-8959-694EC65E64BE}"/>
              </a:ext>
            </a:extLst>
          </p:cNvPr>
          <p:cNvSpPr/>
          <p:nvPr/>
        </p:nvSpPr>
        <p:spPr>
          <a:xfrm>
            <a:off x="8217406" y="1015740"/>
            <a:ext cx="3596640" cy="53241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Cross-Encoder - Final Re-Ranking</a:t>
            </a:r>
          </a:p>
          <a:p>
            <a:pPr algn="ctr"/>
            <a:endParaRPr lang="en-IN" sz="2100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Model:</a:t>
            </a:r>
            <a:r>
              <a:rPr lang="en-IN" dirty="0">
                <a:solidFill>
                  <a:schemeClr val="tx1"/>
                </a:solidFill>
              </a:rPr>
              <a:t> cross-encoder/ms-marco-MiniLM-L-6-v2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Takes the </a:t>
            </a:r>
            <a:r>
              <a:rPr lang="en-IN" sz="1400" b="1" dirty="0">
                <a:solidFill>
                  <a:schemeClr val="tx1"/>
                </a:solidFill>
              </a:rPr>
              <a:t>query and passage together</a:t>
            </a:r>
            <a:r>
              <a:rPr lang="en-IN" sz="1400" dirty="0">
                <a:solidFill>
                  <a:schemeClr val="tx1"/>
                </a:solidFill>
              </a:rPr>
              <a:t> as input.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Uses </a:t>
            </a:r>
            <a:r>
              <a:rPr lang="en-IN" sz="1400" b="1" dirty="0">
                <a:solidFill>
                  <a:schemeClr val="tx1"/>
                </a:solidFill>
              </a:rPr>
              <a:t>attention between the query and passage</a:t>
            </a:r>
            <a:r>
              <a:rPr lang="en-IN" sz="1400" dirty="0">
                <a:solidFill>
                  <a:schemeClr val="tx1"/>
                </a:solidFill>
              </a:rPr>
              <a:t> to understand their relevance.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Receives the </a:t>
            </a:r>
            <a:r>
              <a:rPr lang="en-IN" sz="1400" b="1" dirty="0">
                <a:solidFill>
                  <a:schemeClr val="tx1"/>
                </a:solidFill>
              </a:rPr>
              <a:t>Top-20 candidates</a:t>
            </a:r>
            <a:r>
              <a:rPr lang="en-IN" sz="1400" dirty="0">
                <a:solidFill>
                  <a:schemeClr val="tx1"/>
                </a:solidFill>
              </a:rPr>
              <a:t> from BM25 + dense retrieval.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Re-scores them and selects the </a:t>
            </a:r>
            <a:r>
              <a:rPr lang="en-IN" sz="1400" b="1" dirty="0">
                <a:solidFill>
                  <a:schemeClr val="tx1"/>
                </a:solidFill>
              </a:rPr>
              <a:t>Top-5 most relevant passages</a:t>
            </a:r>
            <a:r>
              <a:rPr lang="en-IN" sz="1400" dirty="0">
                <a:solidFill>
                  <a:schemeClr val="tx1"/>
                </a:solidFill>
              </a:rPr>
              <a:t>.</a:t>
            </a:r>
          </a:p>
          <a:p>
            <a:r>
              <a:rPr lang="en-IN" sz="1400" dirty="0">
                <a:solidFill>
                  <a:srgbClr val="00897B"/>
                </a:solidFill>
              </a:rPr>
              <a:t>	</a:t>
            </a:r>
          </a:p>
          <a:p>
            <a:endParaRPr lang="en-IN" sz="2100" dirty="0">
              <a:solidFill>
                <a:srgbClr val="1230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79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1A68-12D6-056E-FB53-020D4E72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59BB0-7DDF-6FB2-810E-82640D898063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624B52-CFE9-D94A-7F2B-36BCC464FE7A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FF1FF-D431-DD53-E195-8F85EF70E43C}"/>
              </a:ext>
            </a:extLst>
          </p:cNvPr>
          <p:cNvSpPr txBox="1"/>
          <p:nvPr/>
        </p:nvSpPr>
        <p:spPr>
          <a:xfrm>
            <a:off x="177105" y="269482"/>
            <a:ext cx="7187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System Evaluation Metrics  </a:t>
            </a:r>
          </a:p>
        </p:txBody>
      </p:sp>
      <p:pic>
        <p:nvPicPr>
          <p:cNvPr id="29" name="Picture 28" descr="IIITN Logo">
            <a:extLst>
              <a:ext uri="{FF2B5EF4-FFF2-40B4-BE49-F238E27FC236}">
                <a16:creationId xmlns:a16="http://schemas.microsoft.com/office/drawing/2014/main" id="{8A03710B-302B-A0AD-AA37-0F91CC8B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60C2C9-88C5-238D-9B05-5D3EEFB3342D}"/>
              </a:ext>
            </a:extLst>
          </p:cNvPr>
          <p:cNvSpPr/>
          <p:nvPr/>
        </p:nvSpPr>
        <p:spPr>
          <a:xfrm>
            <a:off x="536446" y="1015739"/>
            <a:ext cx="3596640" cy="53241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Retrieval Quality</a:t>
            </a: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tx1"/>
                </a:solidFill>
              </a:rPr>
              <a:t>Recall@K</a:t>
            </a:r>
            <a:r>
              <a:rPr lang="en-IN" sz="1600" b="1" dirty="0">
                <a:solidFill>
                  <a:schemeClr val="tx1"/>
                </a:solidFill>
              </a:rPr>
              <a:t> (5, 10, 20)</a:t>
            </a:r>
            <a:r>
              <a:rPr lang="en-IN" sz="1600" dirty="0">
                <a:solidFill>
                  <a:schemeClr val="tx1"/>
                </a:solidFill>
              </a:rPr>
              <a:t> - How many relevant passages are successfully retrieved in the top-K results.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tx1"/>
                </a:solidFill>
              </a:rPr>
              <a:t>Precision@K</a:t>
            </a:r>
            <a:r>
              <a:rPr lang="en-IN" sz="1600" dirty="0">
                <a:solidFill>
                  <a:schemeClr val="tx1"/>
                </a:solidFill>
              </a:rPr>
              <a:t> - How many of the retrieved passages are actually relevant.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MRR</a:t>
            </a:r>
            <a:r>
              <a:rPr lang="en-IN" sz="1600" dirty="0">
                <a:solidFill>
                  <a:schemeClr val="tx1"/>
                </a:solidFill>
              </a:rPr>
              <a:t> - Measures how high the first relevant result appears in the ranking.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NDCG@K</a:t>
            </a:r>
            <a:r>
              <a:rPr lang="en-IN" sz="1600" dirty="0">
                <a:solidFill>
                  <a:schemeClr val="tx1"/>
                </a:solidFill>
              </a:rPr>
              <a:t> - Measures how well the most relevant passages are ordered near the top.</a:t>
            </a:r>
          </a:p>
          <a:p>
            <a:r>
              <a:rPr lang="en-IN" sz="1400" dirty="0">
                <a:solidFill>
                  <a:srgbClr val="00897B"/>
                </a:solidFill>
              </a:rPr>
              <a:t>	</a:t>
            </a:r>
          </a:p>
          <a:p>
            <a:endParaRPr lang="en-IN" sz="2100" dirty="0">
              <a:solidFill>
                <a:srgbClr val="12304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1BAE78-47C0-2FD2-E471-8A519A7CC8E9}"/>
              </a:ext>
            </a:extLst>
          </p:cNvPr>
          <p:cNvSpPr/>
          <p:nvPr/>
        </p:nvSpPr>
        <p:spPr>
          <a:xfrm>
            <a:off x="4297680" y="1015739"/>
            <a:ext cx="3596640" cy="53241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Answer Quality</a:t>
            </a: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Faithfulness / </a:t>
            </a:r>
            <a:r>
              <a:rPr lang="en-IN" sz="1600" b="1" dirty="0" err="1">
                <a:solidFill>
                  <a:schemeClr val="tx1"/>
                </a:solidFill>
              </a:rPr>
              <a:t>Groundedness</a:t>
            </a:r>
            <a:r>
              <a:rPr lang="en-IN" sz="1600" b="1" dirty="0">
                <a:solidFill>
                  <a:schemeClr val="tx1"/>
                </a:solidFill>
              </a:rPr>
              <a:t> - </a:t>
            </a:r>
            <a:r>
              <a:rPr lang="en-IN" sz="1600" dirty="0">
                <a:solidFill>
                  <a:schemeClr val="tx1"/>
                </a:solidFill>
              </a:rPr>
              <a:t>Checks whether the answer is supported by the retrieved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Answer Relevance</a:t>
            </a:r>
            <a:r>
              <a:rPr lang="en-IN" sz="1600" dirty="0">
                <a:solidFill>
                  <a:schemeClr val="tx1"/>
                </a:solidFill>
              </a:rPr>
              <a:t> - Checks whether the answer actually addresses the user's question.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Citation Accuracy</a:t>
            </a:r>
            <a:r>
              <a:rPr lang="en-IN" sz="1600" dirty="0">
                <a:solidFill>
                  <a:schemeClr val="tx1"/>
                </a:solidFill>
              </a:rPr>
              <a:t> - Checks whether the provided source links and document references point to the information used in the answer.</a:t>
            </a:r>
          </a:p>
          <a:p>
            <a:r>
              <a:rPr lang="en-IN" sz="1400" dirty="0">
                <a:solidFill>
                  <a:srgbClr val="00897B"/>
                </a:solidFill>
              </a:rPr>
              <a:t>	</a:t>
            </a:r>
          </a:p>
          <a:p>
            <a:endParaRPr lang="en-IN" sz="2100" dirty="0">
              <a:solidFill>
                <a:srgbClr val="12304A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525075-1DF1-0469-2641-5823862CBDF8}"/>
              </a:ext>
            </a:extLst>
          </p:cNvPr>
          <p:cNvSpPr/>
          <p:nvPr/>
        </p:nvSpPr>
        <p:spPr>
          <a:xfrm>
            <a:off x="8058914" y="1015739"/>
            <a:ext cx="3596640" cy="5324100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System Performance</a:t>
            </a:r>
          </a:p>
          <a:p>
            <a:pPr algn="ctr"/>
            <a:endParaRPr lang="en-IN" sz="2800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Retrieval Latency</a:t>
            </a:r>
            <a:r>
              <a:rPr lang="en-IN" sz="1600" dirty="0">
                <a:solidFill>
                  <a:schemeClr val="tx1"/>
                </a:solidFill>
              </a:rPr>
              <a:t> — Time required to retrieve candidate passages using BM25 and FAISS.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Re-ranking Latency</a:t>
            </a:r>
            <a:r>
              <a:rPr lang="en-IN" sz="1600" dirty="0">
                <a:solidFill>
                  <a:schemeClr val="tx1"/>
                </a:solidFill>
              </a:rPr>
              <a:t> — Time required by the Cross-Encoder to rank the Top-20 candidates.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End-to-End Latency</a:t>
            </a:r>
            <a:r>
              <a:rPr lang="en-IN" sz="1600" dirty="0">
                <a:solidFill>
                  <a:schemeClr val="tx1"/>
                </a:solidFill>
              </a:rPr>
              <a:t> — Total time from the user query to the final answer.</a:t>
            </a:r>
          </a:p>
          <a:p>
            <a:r>
              <a:rPr lang="en-IN" sz="1400" dirty="0">
                <a:solidFill>
                  <a:srgbClr val="00897B"/>
                </a:solidFill>
              </a:rPr>
              <a:t>	</a:t>
            </a:r>
          </a:p>
          <a:p>
            <a:endParaRPr lang="en-IN" sz="2100" dirty="0">
              <a:solidFill>
                <a:srgbClr val="1230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12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463E-42EA-B12C-6193-F08EDDA1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A66445-0979-E2BA-51A0-B198DCD915C0}"/>
              </a:ext>
            </a:extLst>
          </p:cNvPr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227A12-3FDC-185A-5D03-3644C8474323}"/>
              </a:ext>
            </a:extLst>
          </p:cNvPr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63CC2-DEB7-8B12-AB0C-57F0284F6EE6}"/>
              </a:ext>
            </a:extLst>
          </p:cNvPr>
          <p:cNvSpPr txBox="1"/>
          <p:nvPr/>
        </p:nvSpPr>
        <p:spPr>
          <a:xfrm>
            <a:off x="177104" y="269482"/>
            <a:ext cx="9223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2304A"/>
                </a:solidFill>
              </a:rPr>
              <a:t>Baseline Analysis &amp; Future Scope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AAA8CF-0888-5F3A-F840-E2A2A2711BE0}"/>
              </a:ext>
            </a:extLst>
          </p:cNvPr>
          <p:cNvSpPr/>
          <p:nvPr/>
        </p:nvSpPr>
        <p:spPr>
          <a:xfrm>
            <a:off x="177103" y="964375"/>
            <a:ext cx="5918896" cy="3856247"/>
          </a:xfrm>
          <a:prstGeom prst="roundRect">
            <a:avLst/>
          </a:prstGeom>
          <a:solidFill>
            <a:srgbClr val="EA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100" b="1" dirty="0">
              <a:solidFill>
                <a:srgbClr val="000435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Initial Baseline — Dense Retrieval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We initially tested </a:t>
            </a:r>
            <a:r>
              <a:rPr lang="en-IN" sz="1600" b="1" dirty="0">
                <a:solidFill>
                  <a:schemeClr val="tx1"/>
                </a:solidFill>
              </a:rPr>
              <a:t>dense retrieval</a:t>
            </a:r>
            <a:r>
              <a:rPr lang="en-IN" sz="1600" dirty="0">
                <a:solidFill>
                  <a:schemeClr val="tx1"/>
                </a:solidFill>
              </a:rPr>
              <a:t> using </a:t>
            </a:r>
            <a:r>
              <a:rPr lang="en-IN" sz="1600" b="1" dirty="0">
                <a:solidFill>
                  <a:schemeClr val="tx1"/>
                </a:solidFill>
              </a:rPr>
              <a:t>FAISS</a:t>
            </a:r>
            <a:r>
              <a:rPr lang="en-IN" sz="1600" dirty="0">
                <a:solidFill>
                  <a:schemeClr val="tx1"/>
                </a:solidFill>
              </a:rPr>
              <a:t> and </a:t>
            </a:r>
            <a:r>
              <a:rPr lang="en-IN" sz="1600" b="1" dirty="0">
                <a:solidFill>
                  <a:schemeClr val="tx1"/>
                </a:solidFill>
              </a:rPr>
              <a:t>all-MiniLM-L6-v2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It performed well for queries based on </a:t>
            </a:r>
            <a:r>
              <a:rPr lang="en-IN" sz="1600" b="1" dirty="0">
                <a:solidFill>
                  <a:schemeClr val="tx1"/>
                </a:solidFill>
              </a:rPr>
              <a:t>meaning and context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During testing, we noticed that some </a:t>
            </a:r>
            <a:r>
              <a:rPr lang="en-IN" sz="1600" b="1" dirty="0">
                <a:solidFill>
                  <a:schemeClr val="tx1"/>
                </a:solidFill>
              </a:rPr>
              <a:t>exact terms were not retrieved reliably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Queries involving </a:t>
            </a:r>
            <a:r>
              <a:rPr lang="en-IN" sz="1600" b="1" dirty="0">
                <a:solidFill>
                  <a:schemeClr val="tx1"/>
                </a:solidFill>
              </a:rPr>
              <a:t>course codes, faculty names, room numbers, and other specific identifiers</a:t>
            </a:r>
            <a:r>
              <a:rPr lang="en-IN" sz="1600" dirty="0">
                <a:solidFill>
                  <a:schemeClr val="tx1"/>
                </a:solidFill>
              </a:rPr>
              <a:t> could be missed or ranked lower.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This showed that </a:t>
            </a:r>
            <a:r>
              <a:rPr lang="en-IN" sz="1600" b="1" dirty="0">
                <a:solidFill>
                  <a:schemeClr val="tx1"/>
                </a:solidFill>
              </a:rPr>
              <a:t>dense retrieval alone was not sufficient</a:t>
            </a:r>
            <a:r>
              <a:rPr lang="en-IN" sz="1600" dirty="0">
                <a:solidFill>
                  <a:schemeClr val="tx1"/>
                </a:solidFill>
              </a:rPr>
              <a:t> for our institutional data.</a:t>
            </a: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623689-70BC-24F3-D04F-FC756A6AF43F}"/>
              </a:ext>
            </a:extLst>
          </p:cNvPr>
          <p:cNvSpPr/>
          <p:nvPr/>
        </p:nvSpPr>
        <p:spPr>
          <a:xfrm>
            <a:off x="6550153" y="1015739"/>
            <a:ext cx="5464743" cy="3804883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Future Scope — Hybrid Retrieval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Add </a:t>
            </a:r>
            <a:r>
              <a:rPr lang="en-IN" sz="1600" b="1" dirty="0">
                <a:solidFill>
                  <a:schemeClr val="tx1"/>
                </a:solidFill>
              </a:rPr>
              <a:t>BM25</a:t>
            </a:r>
            <a:r>
              <a:rPr lang="en-IN" sz="1600" dirty="0">
                <a:solidFill>
                  <a:schemeClr val="tx1"/>
                </a:solidFill>
              </a:rPr>
              <a:t> to handle exact keyword and identifier matching.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Combine dense and sparse results using </a:t>
            </a:r>
            <a:r>
              <a:rPr lang="en-IN" sz="1600" b="1" dirty="0">
                <a:solidFill>
                  <a:schemeClr val="tx1"/>
                </a:solidFill>
              </a:rPr>
              <a:t>Reciprocal Rank Fusion (RRF)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Use a </a:t>
            </a:r>
            <a:r>
              <a:rPr lang="en-IN" sz="1600" b="1" dirty="0">
                <a:solidFill>
                  <a:schemeClr val="tx1"/>
                </a:solidFill>
              </a:rPr>
              <a:t>Cross-Encoder</a:t>
            </a:r>
            <a:r>
              <a:rPr lang="en-IN" sz="1600" dirty="0">
                <a:solidFill>
                  <a:schemeClr val="tx1"/>
                </a:solidFill>
              </a:rPr>
              <a:t> to improve the ranking of retrieved passages.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Compare the hybrid system against the </a:t>
            </a:r>
            <a:r>
              <a:rPr lang="en-IN" sz="1600" b="1" dirty="0">
                <a:solidFill>
                  <a:schemeClr val="tx1"/>
                </a:solidFill>
              </a:rPr>
              <a:t>dense-only baseline</a:t>
            </a:r>
            <a:r>
              <a:rPr lang="en-IN" sz="1600" dirty="0">
                <a:solidFill>
                  <a:schemeClr val="tx1"/>
                </a:solidFill>
              </a:rPr>
              <a:t> using </a:t>
            </a:r>
            <a:r>
              <a:rPr lang="en-IN" sz="1600" b="1" dirty="0" err="1">
                <a:solidFill>
                  <a:schemeClr val="tx1"/>
                </a:solidFill>
              </a:rPr>
              <a:t>Recall@K</a:t>
            </a:r>
            <a:r>
              <a:rPr lang="en-IN" sz="1600" b="1" dirty="0">
                <a:solidFill>
                  <a:schemeClr val="tx1"/>
                </a:solidFill>
              </a:rPr>
              <a:t>, MRR, and NDCG</a:t>
            </a:r>
            <a:r>
              <a:rPr lang="en-IN" sz="1600" dirty="0">
                <a:solidFill>
                  <a:schemeClr val="tx1"/>
                </a:solidFill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</a:rPr>
              <a:t>Evaluate the final </a:t>
            </a:r>
            <a:r>
              <a:rPr lang="en-IN" sz="1600" b="1" dirty="0">
                <a:solidFill>
                  <a:schemeClr val="tx1"/>
                </a:solidFill>
              </a:rPr>
              <a:t>RAG system</a:t>
            </a:r>
            <a:r>
              <a:rPr lang="en-IN" sz="1600" dirty="0">
                <a:solidFill>
                  <a:schemeClr val="tx1"/>
                </a:solidFill>
              </a:rPr>
              <a:t> for </a:t>
            </a:r>
            <a:r>
              <a:rPr lang="en-IN" sz="1600" b="1" dirty="0">
                <a:solidFill>
                  <a:schemeClr val="tx1"/>
                </a:solidFill>
              </a:rPr>
              <a:t>faithfulness, answer relevance, and citation accuracy</a:t>
            </a:r>
            <a:endParaRPr lang="en-IN" sz="1600" dirty="0">
              <a:solidFill>
                <a:schemeClr val="tx1"/>
              </a:solidFill>
            </a:endParaRPr>
          </a:p>
          <a:p>
            <a:pPr algn="ctr"/>
            <a:endParaRPr lang="en-IN" sz="2100" dirty="0">
              <a:solidFill>
                <a:srgbClr val="000435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3E2D3E-3882-0C13-AF18-DAB8F5A92F49}"/>
              </a:ext>
            </a:extLst>
          </p:cNvPr>
          <p:cNvSpPr/>
          <p:nvPr/>
        </p:nvSpPr>
        <p:spPr>
          <a:xfrm>
            <a:off x="271431" y="4921936"/>
            <a:ext cx="11649137" cy="1716607"/>
          </a:xfrm>
          <a:prstGeom prst="roundRect">
            <a:avLst/>
          </a:prstGeom>
          <a:solidFill>
            <a:srgbClr val="E8F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00897B"/>
                </a:solidFill>
              </a:rPr>
              <a:t>Goal</a:t>
            </a:r>
          </a:p>
          <a:p>
            <a:r>
              <a:rPr lang="en-IN" sz="2000" dirty="0">
                <a:solidFill>
                  <a:schemeClr val="tx1"/>
                </a:solidFill>
              </a:rPr>
              <a:t>Build a </a:t>
            </a:r>
            <a:r>
              <a:rPr lang="en-IN" sz="2000" b="1" dirty="0">
                <a:solidFill>
                  <a:schemeClr val="tx1"/>
                </a:solidFill>
              </a:rPr>
              <a:t>reliable retrieval system for IIIT Nagpur</a:t>
            </a:r>
            <a:r>
              <a:rPr lang="en-IN" sz="2000" dirty="0">
                <a:solidFill>
                  <a:schemeClr val="tx1"/>
                </a:solidFill>
              </a:rPr>
              <a:t> that understands the meaning of a query while also accurately finding exact terms such as </a:t>
            </a:r>
            <a:r>
              <a:rPr lang="en-IN" sz="2000" b="1" dirty="0">
                <a:solidFill>
                  <a:schemeClr val="tx1"/>
                </a:solidFill>
              </a:rPr>
              <a:t>course codes, faculty names, and other institutional information</a:t>
            </a:r>
            <a:r>
              <a:rPr lang="en-IN" sz="2000" dirty="0">
                <a:solidFill>
                  <a:schemeClr val="tx1"/>
                </a:solidFill>
              </a:rPr>
              <a:t> — with </a:t>
            </a:r>
            <a:r>
              <a:rPr lang="en-IN" sz="2000" b="1" dirty="0">
                <a:solidFill>
                  <a:schemeClr val="tx1"/>
                </a:solidFill>
              </a:rPr>
              <a:t>grounded answers and proper source citations.</a:t>
            </a:r>
          </a:p>
        </p:txBody>
      </p:sp>
      <p:pic>
        <p:nvPicPr>
          <p:cNvPr id="16" name="Picture 15" descr="IIITN Logo">
            <a:extLst>
              <a:ext uri="{FF2B5EF4-FFF2-40B4-BE49-F238E27FC236}">
                <a16:creationId xmlns:a16="http://schemas.microsoft.com/office/drawing/2014/main" id="{B1982501-76FB-F05D-4E05-D2C65573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822" y="183667"/>
            <a:ext cx="730758" cy="7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94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1219</Words>
  <Application>Microsoft Office PowerPoint</Application>
  <PresentationFormat>Widescreen</PresentationFormat>
  <Paragraphs>144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Baindla Mouryagna</dc:creator>
  <cp:lastModifiedBy>Rishikesh Reddy</cp:lastModifiedBy>
  <cp:revision>6</cp:revision>
  <dcterms:created xsi:type="dcterms:W3CDTF">2026-09-15T17:26:52Z</dcterms:created>
  <dcterms:modified xsi:type="dcterms:W3CDTF">2026-10-06T18:51:24Z</dcterms:modified>
</cp:coreProperties>
</file>